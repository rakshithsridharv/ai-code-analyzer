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14400" y="-914400"/>
            <a:ext cx="5486400" cy="8686800"/>
          </a:xfrm>
          <a:prstGeom prst="round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alibri"/>
              </a:defRPr>
            </a:pPr>
            <a:r>
              <a:t>FINAL YEAR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ASTra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37160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0B3C5"/>
                </a:solidFill>
                <a:latin typeface="Calibri"/>
              </a:defRPr>
            </a:pPr>
            <a:r>
              <a:t>AST-Native Code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EC9"/>
                </a:solidFill>
                <a:latin typeface="Calibri"/>
              </a:defRPr>
            </a:pPr>
            <a:r>
              <a:t>10 Original Analysis Engines  •  Zero Borrowed Logic  •  5 Languages Supported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029200" cy="384048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926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Calibri"/>
              </a:defRPr>
            </a:pPr>
            <a:r>
              <a:t>Project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9926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ASTra — AST-Native Code Intelligence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13248"/>
            <a:ext cx="5029200" cy="384048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4681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Calibri"/>
              </a:defRPr>
            </a:pPr>
            <a:r>
              <a:t>Batch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468112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5888736"/>
            <a:ext cx="5029200" cy="384048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Calibri"/>
              </a:defRPr>
            </a:pPr>
            <a: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952744"/>
            <a:ext cx="3200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Mr</a:t>
            </a:r>
            <a:r>
              <a:rPr lang="en-US" dirty="0"/>
              <a:t> .P. </a:t>
            </a:r>
            <a:r>
              <a:rPr lang="en-US" dirty="0" err="1"/>
              <a:t>Thanigesan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400800" y="4937760"/>
            <a:ext cx="5029200" cy="1335024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9926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5CE7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V. Rakshith Sridhar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110622104027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6967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N. Mohan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696712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rPr dirty="0"/>
              <a:t>11062210</a:t>
            </a:r>
            <a:r>
              <a:rPr lang="en-US" dirty="0"/>
              <a:t>4</a:t>
            </a:r>
            <a:r>
              <a:rPr dirty="0"/>
              <a:t>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952744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M. </a:t>
            </a:r>
            <a:r>
              <a:rPr dirty="0" err="1"/>
              <a:t>Sudars</a:t>
            </a:r>
            <a:r>
              <a:rPr lang="en-US" dirty="0" err="1"/>
              <a:t>o</a:t>
            </a:r>
            <a:r>
              <a:rPr dirty="0" err="1"/>
              <a:t>n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326880" y="59527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110622104032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371600"/>
            <a:ext cx="2286000" cy="22860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C5CE7"/>
                </a:solidFill>
                <a:latin typeface="Calibri"/>
              </a:defRPr>
            </a:pPr>
            <a:r>
              <a:t>{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286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3C5"/>
                </a:solidFill>
                <a:latin typeface="Calibri"/>
              </a:defRPr>
            </a:pPr>
            <a:r>
              <a:t>Static Code</a:t>
            </a:r>
            <a:br/>
            <a:r>
              <a:t>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926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EC9"/>
                </a:solidFill>
                <a:latin typeface="Calibri"/>
              </a:defRPr>
            </a:pPr>
            <a:r>
              <a:t>ast.NodeVisitor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6858000" cy="4389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97280"/>
            <a:ext cx="54864" cy="43891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28016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3C5"/>
                </a:solidFill>
                <a:latin typeface="Calibri"/>
              </a:defRPr>
            </a:pPr>
            <a:r>
              <a:t>ASTra (AST-Native Code Intelligence) is a static code analysis platform that analyses source code without executing it — answering the question no existing free tool addresses: why is this code slow, and how slow will it get?</a:t>
            </a:r>
            <a:br/>
            <a:br/>
            <a:r>
              <a:t>The platform implements ten original analysis engines built exclusively on Python’s built-in ast module. Every complexity inference rule, every anti-pattern check, every explanation — written by hand, not delegated to a library.</a:t>
            </a:r>
            <a:br/>
            <a:br/>
            <a:r>
              <a:t>It supports 5 programming languages (Python, JavaScript, Java, C, C++) and provides deterministic Big-O inference, academic metrics (McCabe 1976, Halstead 1977), plain-English explanations with exact line numbers, a control flow graph visualizer, and an AI chat assistant with full analysis context injection.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2344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691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All built from scratch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09728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123443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691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Big-O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65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97%+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5176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Academic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5204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McCabe + Halstead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65176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2788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246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 Languages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52043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Python, JS, Java, C, C++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20624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00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074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Context-aware chat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66960" y="4206240"/>
            <a:ext cx="1737360" cy="137160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800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Zero Dependencies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074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No external analysis libs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 — 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82296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97280"/>
            <a:ext cx="54864" cy="82296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2344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CB6E"/>
                </a:solidFill>
                <a:latin typeface="Calibri"/>
              </a:defRPr>
            </a:pPr>
            <a:r>
              <a:t>A function that processes 1,000 records in 1ms may take over 11 DAYS on 1,000,000 records — if it has O(n²) complexity.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Core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029200" cy="658368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54864" cy="658368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33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Linters (Pylint, ESLint, Flake8)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8950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Check style and syntax only — cannot infer algorithmic complexity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5029200" cy="658368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54864" cy="658368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Enterprise Tools (SonarQube)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667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Require server setup, provide no Big-O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029200" cy="658368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54864" cy="658368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187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Tools (ChatGPT / Copilot)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439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Non-deterministic, no exact line numbers, requires internet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5029200" cy="658368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54864" cy="6583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9651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 Existing Free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212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Combines complexity inference, academic metrics, and explanation locally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48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60320"/>
            <a:ext cx="5029200" cy="29260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2560320"/>
            <a:ext cx="54864" cy="29260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697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Build 10 original analysis engines using Python’s built-in ast module</a:t>
            </a:r>
          </a:p>
          <a:p>
            <a:pPr>
              <a:spcAft>
                <a:spcPts val="43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39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✓  Deterministic — same input always produces same output</a:t>
            </a:r>
          </a:p>
          <a:p>
            <a:pPr>
              <a:spcAft>
                <a:spcPts val="439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✓  Local &amp; Offline — no cloud dependency</a:t>
            </a:r>
          </a:p>
          <a:p>
            <a:pPr>
              <a:spcAft>
                <a:spcPts val="439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✓  Explainable — plain-English with line numbers</a:t>
            </a:r>
          </a:p>
          <a:p>
            <a:pPr>
              <a:spcAft>
                <a:spcPts val="439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✓  Grounded in published CS literature</a:t>
            </a:r>
          </a:p>
          <a:p>
            <a:pPr>
              <a:spcAft>
                <a:spcPts val="439"/>
              </a:spcAft>
              <a:defRPr sz="1200" b="0">
                <a:solidFill>
                  <a:srgbClr val="00E676"/>
                </a:solidFill>
                <a:latin typeface="Calibri"/>
              </a:defRPr>
            </a:pPr>
            <a:r>
              <a:t>✓  Zero external analysis libraries</a:t>
            </a:r>
          </a:p>
          <a:p>
            <a:pPr>
              <a:spcAft>
                <a:spcPts val="43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439"/>
              </a:spcAft>
              <a:defRPr sz="1200" b="0">
                <a:solidFill>
                  <a:srgbClr val="00CEC9"/>
                </a:solidFill>
                <a:latin typeface="Calibri"/>
              </a:defRPr>
            </a:pPr>
            <a:r>
              <a:t>No external analysis library is used for any core logic.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5623560"/>
            <a:ext cx="54864" cy="64008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DCB6E"/>
                </a:solidFill>
                <a:latin typeface="Calibri"/>
              </a:defRPr>
            </a:pPr>
            <a:r>
              <a:t>Impact of Algorithmic Inefficiency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O(n²) on 1M items → 1 trillion ops ≈ 11 days   |   O(n) on same data → 1 second   |   No free local tool tells developers this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 — Gap in Existing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228600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188720"/>
            <a:ext cx="320040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261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It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188720"/>
            <a:ext cx="320040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261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It Misses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22860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Pylint / Flake8 / Ruff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1691640"/>
            <a:ext cx="32004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Style, syntax, unused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32004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Algorithmic complexity — entirely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286000"/>
            <a:ext cx="22860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SonarQube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2286000"/>
            <a:ext cx="32004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Security, code smells, maintainability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32004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Big-O inference, recursion patterns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80360"/>
            <a:ext cx="22860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Radon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2880360"/>
            <a:ext cx="32004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4612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Cyclomatic &amp; Halstead metrics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880360"/>
            <a:ext cx="3200400" cy="5029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No Big-O, no explanation, no multi-language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474720"/>
            <a:ext cx="22860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ChatGPT / Cloud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3474720"/>
            <a:ext cx="32004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General suggestions (non-deterministic)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474720"/>
            <a:ext cx="3200400" cy="502920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Exact line numbers, offline, consistent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069080"/>
            <a:ext cx="2286000" cy="502920"/>
          </a:xfrm>
          <a:prstGeom prst="roundRect">
            <a:avLst/>
          </a:prstGeom>
          <a:solidFill>
            <a:srgbClr val="1A1530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ASTra (This Project)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08960" y="4069080"/>
            <a:ext cx="3200400" cy="502920"/>
          </a:xfrm>
          <a:prstGeom prst="roundRect">
            <a:avLst/>
          </a:prstGeom>
          <a:solidFill>
            <a:srgbClr val="1A1530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4612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Calibri"/>
              </a:defRPr>
            </a:pPr>
            <a:r>
              <a:t>All of the above + 10 original engines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069080"/>
            <a:ext cx="3200400" cy="502920"/>
          </a:xfrm>
          <a:prstGeom prst="roundRect">
            <a:avLst/>
          </a:prstGeom>
          <a:solidFill>
            <a:srgbClr val="1A1530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DCB6E"/>
                </a:solidFill>
                <a:latin typeface="Calibri"/>
              </a:defRPr>
            </a:pPr>
            <a:r>
              <a:t>Documented in Known Limitations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Objective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2120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3C5"/>
                </a:solidFill>
                <a:latin typeface="Calibri"/>
              </a:defRPr>
            </a:pPr>
            <a:r>
              <a:t>Design and implement a static code analysis platform that performs deterministic Big-O complexity inference, academic software metrics computation, anti-pattern detection, and plain-English explanation generation — entirely locally, offline, and without delegating core analysis to any external library or cloud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97280"/>
            <a:ext cx="54864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280160"/>
            <a:ext cx="45720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80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McCabe, T.J. (1976)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54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5CE7"/>
                </a:solidFill>
                <a:latin typeface="Calibri"/>
              </a:defRPr>
            </a:pPr>
            <a:r>
              <a:t>"A Complexity Measure"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8288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IEEE Trans. Software Eng., Vol.2 No.4, pp.308–320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C5CE7"/>
                </a:solidFill>
                <a:latin typeface="Calibri"/>
              </a:defRPr>
            </a:pPr>
            <a:r>
              <a:t>Relevance to ASTra: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Basis for CyclomaticAnalyzer. Formula M = D + 1 implemented directly from original paper.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09728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097280"/>
            <a:ext cx="54864" cy="22860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37960" y="1280160"/>
            <a:ext cx="457200" cy="365760"/>
          </a:xfrm>
          <a:prstGeom prst="round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298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2801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Halstead, M.H. (1977)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554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C9"/>
                </a:solidFill>
                <a:latin typeface="Calibri"/>
              </a:defRPr>
            </a:pPr>
            <a:r>
              <a:t>"Elements of Software Science"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8288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Elsevier, Amsterdam. ISBN 0-444-00215-8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alibri"/>
              </a:defRPr>
            </a:pPr>
            <a:r>
              <a:t>Relevance to ASTra: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Basis for HalsteadAnalyzer. Volume, Difficulty, Effort, Time, Bug estimate. Constants 3000 and 18 are Halstead’s empirically derived values.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3566160"/>
            <a:ext cx="54864" cy="228600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4400" y="3749040"/>
            <a:ext cx="457200" cy="365760"/>
          </a:xfrm>
          <a:prstGeom prst="round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767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[3]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749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Pereira, R. et al. (2017)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0233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348"/>
                </a:solidFill>
                <a:latin typeface="Calibri"/>
              </a:defRPr>
            </a:pPr>
            <a:r>
              <a:t>"Energy Efficiency Across Programming Languages"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976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SLE 2017, ACM, pp.256–267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348"/>
                </a:solidFill>
                <a:latin typeface="Calibri"/>
              </a:defRPr>
            </a:pPr>
            <a:r>
              <a:t>Relevance to ASTra: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Basis for EcoScore. Python consumes ~75× more energy than C. Used for language multiplier table.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6616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3566160"/>
            <a:ext cx="54864" cy="228600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37960" y="3749040"/>
            <a:ext cx="457200" cy="365760"/>
          </a:xfrm>
          <a:prstGeom prst="round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767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749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Allen, F.E. (1970)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0233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DCB6E"/>
                </a:solidFill>
                <a:latin typeface="Calibri"/>
              </a:defRPr>
            </a:pPr>
            <a:r>
              <a:t>"Control Flow Analysis"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2976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ACM SIGPLAN Notices, Vol.5 No.7, pp.1–19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DCB6E"/>
                </a:solidFill>
                <a:latin typeface="Calibri"/>
              </a:defRPr>
            </a:pPr>
            <a:r>
              <a:t>Relevance to ASTra: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937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Background for CFGBuilder. Defines basic blocks, entry/exit nodes, edge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Ten Original Analysis Engines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6868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Calibri"/>
              </a:defRPr>
            </a:pPr>
            <a:r>
              <a:t>All engines built exclusively on Python’s built-in ast module. Zero external analysis libraries for core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InferenceEngine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Loop-bound Big-O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41732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11880" y="1554480"/>
            <a:ext cx="640080" cy="6400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RecursionClassifier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6 recursion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41732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06440" y="1554480"/>
            <a:ext cx="640080" cy="64008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ExplanationBuilder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Plain-English explanations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199" y="141732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01000" y="1554480"/>
            <a:ext cx="640080" cy="64008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DataFlowTracer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5 data-flow inefficiencies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41732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95560" y="1554480"/>
            <a:ext cx="640080" cy="640080"/>
          </a:xfrm>
          <a:prstGeom prst="ellipse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9556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AntiPatternDetector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5 correctness traps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1188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417320" y="3749040"/>
            <a:ext cx="640080" cy="640080"/>
          </a:xfrm>
          <a:prstGeom prst="ellipse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1732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CyclomaticAnalyzer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McCabe complexity (1976)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361188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11880" y="3749040"/>
            <a:ext cx="640080" cy="64008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ConfidenceEstimator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Uncertainty quantification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361188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806440" y="3749040"/>
            <a:ext cx="640080" cy="64008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0644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79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DeadCodeDetector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9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Unused vars &amp; unreachable code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199" y="361188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01000" y="374904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0100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TypeInferencer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Static type inference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60" y="3611880"/>
            <a:ext cx="2011680" cy="19202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195560" y="374904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9556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HalsteadAnalyzer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Software science metrics (1977)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852160"/>
            <a:ext cx="1069848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31520" y="5852160"/>
            <a:ext cx="54864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5840" y="58978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Plus 2 supporting modules: CFGBuilder (Control Flow Graph) and ReportBuilder (ASCII report export)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Engine 1: Complexity Inference — Decision 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274320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078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Decision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051560"/>
            <a:ext cx="201168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051560"/>
            <a:ext cx="256032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107899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AST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051560"/>
            <a:ext cx="201168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078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508760"/>
            <a:ext cx="274320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What does the loop iterate over?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508760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581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for i in range(n)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508760"/>
            <a:ext cx="256032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0" y="158191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range arg is ast.Name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508760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158191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5CE7"/>
                </a:solidFill>
                <a:latin typeface="Calibri"/>
              </a:defRPr>
            </a:pPr>
            <a:r>
              <a:t>O(n) — variable bound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039112"/>
            <a:ext cx="274320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1122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What does the loop iterate over?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2039112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0" y="21122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for x in arr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2039112"/>
            <a:ext cx="256032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0" y="2112264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iter is ast.Name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039112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1122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5CE7"/>
                </a:solidFill>
                <a:latin typeface="Calibri"/>
              </a:defRPr>
            </a:pPr>
            <a:r>
              <a:t>O(n) — named iterable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2569463"/>
            <a:ext cx="274320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264261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How does the while loop step?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2569463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0" y="26426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while i&lt;n: i *= 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2569463"/>
            <a:ext cx="256032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0" y="2642615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AugAssign op = Mult/FloorDiv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569463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2642615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alibri"/>
              </a:defRPr>
            </a:pPr>
            <a:r>
              <a:t>O(log n) — halving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099815"/>
            <a:ext cx="274320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31729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How does the while loop step?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3099815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0" y="3172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while i&lt;n: i +=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3099815"/>
            <a:ext cx="256032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0" y="3172968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AugAssign op = Add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3099815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31729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alibri"/>
              </a:defRPr>
            </a:pPr>
            <a:r>
              <a:t>O(n) — linear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630168"/>
            <a:ext cx="274320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296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Are loops nested?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66160" y="3630168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0" y="3703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O(n) inside O(n)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3630168"/>
            <a:ext cx="256032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60720" y="3703320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_combine_nested()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3630168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12480" y="3703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348"/>
                </a:solidFill>
                <a:latin typeface="Calibri"/>
              </a:defRPr>
            </a:pPr>
            <a:r>
              <a:t>O(n²) — multiplied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160520"/>
            <a:ext cx="274320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" y="42336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Are loops nested?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6160" y="4160520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0" y="4233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O(n) inside O(1)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0" y="4160520"/>
            <a:ext cx="256032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0720" y="423367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_combine_nested()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0" y="4160520"/>
            <a:ext cx="2011680" cy="438912"/>
          </a:xfrm>
          <a:prstGeom prst="roundRect">
            <a:avLst/>
          </a:prstGeom>
          <a:solidFill>
            <a:srgbClr val="1E2136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0" y="4233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348"/>
                </a:solidFill>
                <a:latin typeface="Calibri"/>
              </a:defRPr>
            </a:pPr>
            <a:r>
              <a:t>O(n) — constant factor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4690871"/>
            <a:ext cx="274320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476402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Is range() constant?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66160" y="4690871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600" y="476402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for i in range(10)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0" y="4690871"/>
            <a:ext cx="256032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4764023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range arg is ast.Constant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21040" y="4690871"/>
            <a:ext cx="2011680" cy="438912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412480" y="476402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CB6E"/>
                </a:solidFill>
                <a:latin typeface="Calibri"/>
              </a:defRPr>
            </a:pPr>
            <a:r>
              <a:t>O(1) — constant bound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731520" y="5303520"/>
            <a:ext cx="54864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0584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The engine distinguishes constant-bound from variable-bound ranges at the AST node level — range(10) vs range(n) produce different complexity classes. This is the core innovation vs naive loop-counting.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8/15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Engines 2–5: Recursion, Explanation, Data Flow &amp; Anti-Patterns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54864" cy="2286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234439"/>
            <a:ext cx="502920" cy="50292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280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RecursionClassifier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Detects recursive functions and classifies into 6 patterns based on recursive call count and memoization cache presence.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4937760" cy="59436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6243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5CE7"/>
                </a:solidFill>
                <a:latin typeface="Consolas"/>
              </a:defRPr>
            </a:pPr>
            <a:r>
              <a:t>Linear O(n) | Binary O(log n) | D&amp;C O(n log n) | Exponential O(2ⁿ) | Tail-recursive | Memoized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05156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051560"/>
            <a:ext cx="54864" cy="22860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37960" y="1234439"/>
            <a:ext cx="502920" cy="50292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280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ExplanationBuilder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7451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Generates deterministic plain-English explanations with actual variable names and line numbers — not generic templates.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560320"/>
            <a:ext cx="4937760" cy="59436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26243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"The outer loop iterates over arr (line 4), the inner loop iterates over arr (line 5) → O(n²)"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2044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520440"/>
            <a:ext cx="54864" cy="228600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67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7490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DataFlowTracer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Tracks 5 data-flow inefficiency patterns across function scope using variable binding analysis.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29200"/>
            <a:ext cx="4937760" cy="59436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093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348"/>
                </a:solidFill>
                <a:latin typeface="Consolas"/>
              </a:defRPr>
            </a:pPr>
            <a:r>
              <a:t>List membership test | String concat in loop | len() in condition | Nested dict lookup | Unused return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520440"/>
            <a:ext cx="5394960" cy="22860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520440"/>
            <a:ext cx="54864" cy="228600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37960" y="3703320"/>
            <a:ext cx="502920" cy="50292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767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7490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AntiPatternDetector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Detects 5 Python-specific correctness traps that pass linting but produce incorrect behaviour at runtime.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5029200"/>
            <a:ext cx="4937760" cy="59436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5093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CB6E"/>
                </a:solidFill>
                <a:latin typeface="Consolas"/>
              </a:defRPr>
            </a:pPr>
            <a:r>
              <a:t>Mutable default args | Bare except | Global state mutation | Late binding closures | assert for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Engines 6–10: Metrics, Confidence, Dead Code, Types &amp; Halstead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5394960" cy="14173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54864" cy="14173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1188719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234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1887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CyclomaticAnalyzer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6303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C5CE7"/>
                </a:solidFill>
                <a:latin typeface="Calibri"/>
              </a:defRPr>
            </a:pPr>
            <a:r>
              <a:t>McCabe 1976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Computes M = E − N + 2P. Counts If/For/While/With/BoolOp/ExceptHandler. Risk: 1–5 Simple, 6–10 Moderate, 11–20 Complex, 21+ Untestable.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051560"/>
            <a:ext cx="5394960" cy="14173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051560"/>
            <a:ext cx="54864" cy="141732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37960" y="1188719"/>
            <a:ext cx="457200" cy="457200"/>
          </a:xfrm>
          <a:prstGeom prst="ellipse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2344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1887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ConfidenceEstimator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46303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alibri"/>
              </a:defRPr>
            </a:pPr>
            <a:r>
              <a:t>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Assigns confidence score (0–100%) to every complexity estimate. Triggers alternative suggestion when confidence &lt; 85%. Reduces false precision.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51760"/>
            <a:ext cx="5394960" cy="14173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2651760"/>
            <a:ext cx="54864" cy="141732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2788920"/>
            <a:ext cx="457200" cy="457200"/>
          </a:xfrm>
          <a:prstGeom prst="ellipse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DeadCodeDetector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063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348"/>
                </a:solidFill>
                <a:latin typeface="Calibri"/>
              </a:defRPr>
            </a:pPr>
            <a:r>
              <a:t>Original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337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Detects unused variables, unused imports, and unreachable statements (code after return, raise, or break with no conditional path).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651760"/>
            <a:ext cx="5394960" cy="14173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2651760"/>
            <a:ext cx="54864" cy="141732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37960" y="2788920"/>
            <a:ext cx="457200" cy="457200"/>
          </a:xfrm>
          <a:prstGeom prst="ellipse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TypeInferencer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0632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DCB6E"/>
                </a:solidFill>
                <a:latin typeface="Calibri"/>
              </a:defRPr>
            </a:pPr>
            <a:r>
              <a:t>Original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337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Static inference from literal assignments (int, float, str, list, dict, bool). Feeds results into DataFlowTracer to improve pattern detection accuracy.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251960"/>
            <a:ext cx="10698480" cy="14173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4251960"/>
            <a:ext cx="54864" cy="1417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HalsteadAnalyzer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4663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Halstead 1977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937760"/>
            <a:ext cx="10332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Counts n₁ (unique operators), n₂ (unique operands), N₁, N₂. Derives: Volume (V), Difficulty (D), Effort (E), Time = E/18 sec, Bugs = V/3000.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 &amp; 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2103120" cy="41148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21031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2344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5CE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React 18 + 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Monaco Editor (code input)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39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Recharts (CFG visualiser)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JWT token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1051560"/>
            <a:ext cx="2103120" cy="41148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1051560"/>
            <a:ext cx="210312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12344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EC9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178308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Flask 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242316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063239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3154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CORS + Rate Limiting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370332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0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SSE Streaming Endpoints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1051560"/>
            <a:ext cx="2103120" cy="41148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0" y="1051560"/>
            <a:ext cx="2103120" cy="54864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20640" y="12344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348"/>
                </a:solidFill>
                <a:latin typeface="Calibri"/>
              </a:defRPr>
            </a:pPr>
            <a:r>
              <a:t>Analysis 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178308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10 AST Engines (Python ast)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242316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ast.NodeVisitor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40" y="3063239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0" y="3154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Zero external analysis libs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370332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2080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Multi-language (Tree-sitter)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1051560"/>
            <a:ext cx="2103120" cy="41148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0" y="1051560"/>
            <a:ext cx="210312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12344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DCB6E"/>
                </a:solidFill>
                <a:latin typeface="Calibri"/>
              </a:defRPr>
            </a:pPr>
            <a:r>
              <a:t>AI Assistant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178308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79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HuggingFace Inference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242316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79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Qwen 2.5 Coder 32B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3063239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79" y="3154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DeepSeek R1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370332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79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Full analysis context injection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1051560"/>
            <a:ext cx="2103120" cy="41148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601200" y="1051560"/>
            <a:ext cx="21031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0" y="12344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92640" y="178308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8408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SQLite (history)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92640" y="242316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840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Docker + Compose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3063239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84080" y="3154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GitHub Actions CI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3703320"/>
            <a:ext cx="1920240" cy="50292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84080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3C5"/>
                </a:solidFill>
                <a:latin typeface="Calibri"/>
              </a:defRPr>
            </a:pPr>
            <a:r>
              <a:t>Environment-based config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D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D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D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8D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394960"/>
            <a:ext cx="11247120" cy="82296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7200" y="5394960"/>
            <a:ext cx="54864" cy="8229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All components containerised with Docker. GitHub Actions runs lint + unit tests on every push.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Security: flask-talisman headers (CSP, HSTS) | bcrypt password hashing | Rate limiting: 30/min on /analyze | DOMPurify XSS protection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Sample Analysis Output — Bubble Sort (Python)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5943600" cy="5029200"/>
          </a:xfrm>
          <a:prstGeom prst="roundRect">
            <a:avLst/>
          </a:prstGeom>
          <a:solidFill>
            <a:srgbClr val="0A0C14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5943600" cy="320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078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● ● ●   ASTra Analysis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onsolas"/>
              </a:defRPr>
            </a:pPr>
            <a:r>
              <a:t>Function: bubble_sort(arr)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77924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189280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onsolas"/>
              </a:defRPr>
            </a:pPr>
            <a:r>
              <a:t>Big-O Complexity: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07692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E676"/>
                </a:solidFill>
                <a:latin typeface="Consolas"/>
              </a:defRPr>
            </a:pPr>
            <a:r>
              <a:t>  O(n²)   [Confidence: 97%]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22576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537460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onsolas"/>
              </a:defRPr>
            </a:pPr>
            <a:r>
              <a:t>Engine Used: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52344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  InferenceEngine → nested For loops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6722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  → variable bound × variable bound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396996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onsolas"/>
              </a:defRPr>
            </a:pPr>
            <a:r>
              <a:t>Explanation: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11879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  Outer loop iterates over arr (line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26764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  Inner loop iterates over arr (line 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4164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CB6E"/>
                </a:solidFill>
                <a:latin typeface="Consolas"/>
              </a:defRPr>
            </a:pPr>
            <a:r>
              <a:t>  Nested O(n)×O(n) = O(n²)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56531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71416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onsolas"/>
              </a:defRPr>
            </a:pPr>
            <a:r>
              <a:t>Cyclomatic (McCabe):  M = 4  [SIMPLE]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686300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Halstead Volume:  V = 127.3  |  D = 8.1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3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onsolas"/>
              </a:defRPr>
            </a:pPr>
            <a:r>
              <a:t>  Effort E = 1031  |  Est. Bugs = 0.042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16068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E676"/>
                </a:solidFill>
                <a:latin typeface="Consolas"/>
              </a:defRPr>
            </a:pPr>
            <a:r>
              <a:t>Dead Code:  None 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30952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E676"/>
                </a:solidFill>
                <a:latin typeface="Consolas"/>
              </a:defRPr>
            </a:pPr>
            <a:r>
              <a:t>Anti-Patterns:  None detected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45836"/>
            <a:ext cx="53035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CB6E"/>
                </a:solidFill>
                <a:latin typeface="Consolas"/>
              </a:defRPr>
            </a:pPr>
            <a:r>
              <a:t>EcoScore:  0.0031g CO₂ per 10K calls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1051560"/>
            <a:ext cx="4297680" cy="8686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0" y="1051560"/>
            <a:ext cx="54864" cy="868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6640" y="11247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C5CE7"/>
                </a:solidFill>
                <a:latin typeface="Calibri"/>
              </a:defRPr>
            </a:pPr>
            <a:r>
              <a:t>O(n²)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1161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Time Complexity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463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97%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2057400"/>
            <a:ext cx="4297680" cy="8686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32320" y="205740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0" y="21305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M =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Cyclomatic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Risk: SIMPLE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0" y="3063240"/>
            <a:ext cx="4297680" cy="8686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132320" y="3063240"/>
            <a:ext cx="54864" cy="86868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31363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EC9"/>
                </a:solidFill>
                <a:latin typeface="Calibri"/>
              </a:defRPr>
            </a:pPr>
            <a:r>
              <a:t>127.3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Halstead Volume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D=8.1  E=1031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0" y="4069080"/>
            <a:ext cx="4297680" cy="8686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32320" y="4069080"/>
            <a:ext cx="54864" cy="868680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41422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DCB6E"/>
                </a:solidFill>
                <a:latin typeface="Calibri"/>
              </a:defRPr>
            </a:pPr>
            <a:r>
              <a:t>0.042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Est. Bug Count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Halstead metric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5074920"/>
            <a:ext cx="4297680" cy="8686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32320" y="5074920"/>
            <a:ext cx="54864" cy="86868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06640" y="51480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348"/>
                </a:solidFill>
                <a:latin typeface="Calibri"/>
              </a:defRPr>
            </a:pPr>
            <a:r>
              <a:t>0.003g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184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CO₂ / 10K calls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DA0"/>
                </a:solidFill>
                <a:latin typeface="Calibri"/>
              </a:defRPr>
            </a:pPr>
            <a:r>
              <a:t>EcoScore estimate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Multi-Language Support &amp; 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2103120" cy="2103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21031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5CE7"/>
                </a:solidFill>
                <a:latin typeface="Calibri"/>
              </a:defRPr>
            </a:pPr>
            <a:r>
              <a:t>Built-in ast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3C5"/>
                </a:solidFill>
                <a:latin typeface="Calibri"/>
              </a:defRPr>
            </a:pPr>
            <a:r>
              <a:t>Full — all 10 engines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051560"/>
            <a:ext cx="2103120" cy="2103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051560"/>
            <a:ext cx="210312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057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CEC9"/>
                </a:solidFill>
                <a:latin typeface="Calibri"/>
              </a:defRPr>
            </a:pPr>
            <a:r>
              <a:t>Tree-sitter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3C5"/>
                </a:solidFill>
                <a:latin typeface="Calibri"/>
              </a:defRPr>
            </a:pPr>
            <a:r>
              <a:t>Full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051560"/>
            <a:ext cx="2103120" cy="2103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1051560"/>
            <a:ext cx="2103120" cy="54864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057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6348"/>
                </a:solidFill>
                <a:latin typeface="Calibri"/>
              </a:defRPr>
            </a:pPr>
            <a:r>
              <a:t>Tree-sitter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3C5"/>
                </a:solidFill>
                <a:latin typeface="Calibri"/>
              </a:defRPr>
            </a:pPr>
            <a:r>
              <a:t>Full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051560"/>
            <a:ext cx="2103120" cy="2103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0" y="1051560"/>
            <a:ext cx="2103120" cy="54864"/>
          </a:xfrm>
          <a:prstGeom prst="rect">
            <a:avLst/>
          </a:prstGeom>
          <a:solidFill>
            <a:srgbClr val="FD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057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DCB6E"/>
                </a:solidFill>
                <a:latin typeface="Calibri"/>
              </a:defRPr>
            </a:pPr>
            <a:r>
              <a:t>Tree-sitter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3C5"/>
                </a:solidFill>
                <a:latin typeface="Calibri"/>
              </a:defRPr>
            </a:pPr>
            <a:r>
              <a:t>Full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051560"/>
            <a:ext cx="2103120" cy="21031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01200" y="1051560"/>
            <a:ext cx="21031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C++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C++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0574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E676"/>
                </a:solidFill>
                <a:latin typeface="Calibri"/>
              </a:defRPr>
            </a:pPr>
            <a:r>
              <a:t>Tree-sitter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3C5"/>
                </a:solidFill>
                <a:latin typeface="Calibri"/>
              </a:defRPr>
            </a:pPr>
            <a:r>
              <a:t>Full STL/templates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703320"/>
            <a:ext cx="1097280" cy="3200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3730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3703320"/>
            <a:ext cx="2011680" cy="3200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1168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3703320"/>
            <a:ext cx="5303520" cy="32004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0" y="3730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114800"/>
            <a:ext cx="10972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151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C5CE7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20240" y="4114800"/>
            <a:ext cx="20116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011680" y="41513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/analyze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023360" y="4114800"/>
            <a:ext cx="530352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0" y="41513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Full analysis (rate-limited 30/min)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462272"/>
            <a:ext cx="10972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EC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20240" y="4462272"/>
            <a:ext cx="20116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11680" y="4498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/cfg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23360" y="4462272"/>
            <a:ext cx="530352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800" y="44988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Control flow graph generation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4809744"/>
            <a:ext cx="10972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6348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20240" y="4809744"/>
            <a:ext cx="20116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11680" y="4846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/report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23360" y="4809744"/>
            <a:ext cx="530352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14800" y="48463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Downloadable analysis report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157216"/>
            <a:ext cx="10972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" y="51937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DCB6E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20240" y="5157216"/>
            <a:ext cx="20116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011680" y="51937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/chat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023360" y="5157216"/>
            <a:ext cx="530352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114800" y="51937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AI chat via SSE streaming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504688"/>
            <a:ext cx="10972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960" y="55412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E676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920240" y="5504688"/>
            <a:ext cx="20116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011680" y="55412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023360" y="5504688"/>
            <a:ext cx="530352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114800" y="55412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JSON health check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5852160"/>
            <a:ext cx="10972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" y="58887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DA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920240" y="5852160"/>
            <a:ext cx="20116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011680" y="58887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/auth/register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23360" y="5852160"/>
            <a:ext cx="530352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114800" y="5888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Create account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1520" y="6199632"/>
            <a:ext cx="10972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2960" y="6236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DA0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920240" y="6199632"/>
            <a:ext cx="201168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011680" y="62362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/auth/login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023360" y="6199632"/>
            <a:ext cx="5303520" cy="301752"/>
          </a:xfrm>
          <a:prstGeom prst="roundRect">
            <a:avLst/>
          </a:prstGeom>
          <a:solidFill>
            <a:srgbClr val="16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14800" y="6236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Login, receive JWT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1520" y="6547104"/>
            <a:ext cx="10972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2296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DA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920240" y="6547104"/>
            <a:ext cx="201168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01168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EC9"/>
                </a:solidFill>
                <a:latin typeface="Consolas"/>
              </a:defRPr>
            </a:pPr>
            <a:r>
              <a:t>/history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023360" y="6547104"/>
            <a:ext cx="5303520" cy="301752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114800" y="65836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3C5"/>
                </a:solidFill>
                <a:latin typeface="Calibri"/>
              </a:defRPr>
            </a:pPr>
            <a:r>
              <a:t>Last 50 analyses (JWT required)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3474720" cy="34747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34747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69164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764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pytest suite for all 10 engines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9456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267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Edge cases: empty functions, single-line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69748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770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Boundary conditions for each complexity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0040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2735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GitHub Actions CI runs on every push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1051560"/>
            <a:ext cx="3474720" cy="34747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59" y="1051560"/>
            <a:ext cx="3474720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EC9"/>
                </a:solidFill>
                <a:latin typeface="Calibri"/>
              </a:defRPr>
            </a:pPr>
            <a:r>
              <a:t>Cross-Language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69164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599" y="1764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Same algorithm tested in 5 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19456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267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Consistency of complexity inference across parsers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69748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2770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Bubble sort, binary search, fibonacci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20040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599" y="32735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Tree-sitter vs ast module parity checks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1051560"/>
            <a:ext cx="3474720" cy="34747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1051560"/>
            <a:ext cx="3474720" cy="54864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348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169164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1764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Full API endpoint testing (Flask test client)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19456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22677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JWT auth flow: register → login → analyze →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269748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2770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Rate limiting verification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200400"/>
            <a:ext cx="3108960" cy="411480"/>
          </a:xfrm>
          <a:prstGeom prst="roundRect">
            <a:avLst/>
          </a:prstGeom>
          <a:solidFill>
            <a:srgbClr val="1E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49640" y="32735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3C5"/>
                </a:solidFill>
                <a:latin typeface="Calibri"/>
              </a:defRPr>
            </a:pPr>
            <a:r>
              <a:t>✓  SSE streaming chat endpoint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Known Limitations (Documented)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029200"/>
            <a:ext cx="3474720" cy="10972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348"/>
                </a:solidFill>
                <a:latin typeface="Calibri"/>
              </a:defRPr>
            </a:pPr>
            <a:r>
              <a:t>Binary search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349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O(log n) via lo/hi convergence requires abstract interpretation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59" y="5029200"/>
            <a:ext cx="3474720" cy="10972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480559" y="5029200"/>
            <a:ext cx="54864" cy="109728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6344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348"/>
                </a:solidFill>
                <a:latin typeface="Calibri"/>
              </a:defRPr>
            </a:pPr>
            <a:r>
              <a:t>ML labeling proxy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5349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Random Forest trained on test pass/fail, not true algorithmic efficiency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5029200"/>
            <a:ext cx="3474720" cy="109728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FF6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29600" y="5029200"/>
            <a:ext cx="54864" cy="1097280"/>
          </a:xfrm>
          <a:prstGeom prst="rect">
            <a:avLst/>
          </a:prstGeom>
          <a:solidFill>
            <a:srgbClr val="FF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80" y="50749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348"/>
                </a:solidFill>
                <a:latin typeface="Calibri"/>
              </a:defRPr>
            </a:pPr>
            <a:r>
              <a:t>Language detection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349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Weighted heuristic — may misclassify very short snippets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446520"/>
            <a:ext cx="12191695" cy="411480"/>
          </a:xfrm>
          <a:prstGeom prst="roundRect">
            <a:avLst/>
          </a:prstGeom>
          <a:solidFill>
            <a:srgbClr val="0A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B.E. Final Year Project  |  2022–2026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92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A8DA0"/>
                </a:solidFill>
                <a:latin typeface="Calibri"/>
              </a:defRPr>
            </a:pPr>
            <a:r>
              <a:t>ASTra — AST-Native Code Intelligence   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22960"/>
            <a:ext cx="1097280" cy="45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Achievements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490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10 original analysis engines, all built from scratch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65960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96596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039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39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Deterministic Big-O inference with 97%+ confidence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14600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587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587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6 recursion pattern classifications (linear → exponential)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63239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063239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1363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13639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Plain-English explanations with exact variable names &amp; line numbers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11880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61188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36850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6850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Academic grounding: McCabe 1976, Halstead 1977, Pereira 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60520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233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233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Full-stack: Flask API + React UI + Docker + CI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59"/>
            <a:ext cx="548640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1520" y="4709159"/>
            <a:ext cx="54864" cy="457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4782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AI chat assistant with full analysis context injection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EC9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1417320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0" y="1417320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1490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14904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Space complexity inference (heap allocation tracking)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1965960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0" y="1965960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20391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20391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Interprocedural analysis (cross-function complexity)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2514600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0" y="2514600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0" y="2587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58775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IDE plugin (VS Code extension)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063239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0" y="3063239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0" y="313639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3136391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Support for Go, Rust source files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3611880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583680" y="3611880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0" y="36850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36850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ML-assisted pattern detection for novel O-classes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4160520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83680" y="4160520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58000" y="42336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42336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Benchmark suite vs SonarQube and Radon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83680" y="4709159"/>
            <a:ext cx="4846320" cy="45720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83680" y="4709159"/>
            <a:ext cx="54864" cy="457200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0" y="47823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EC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47823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3C5"/>
                </a:solidFill>
                <a:latin typeface="Calibri"/>
              </a:defRPr>
            </a:pPr>
            <a:r>
              <a:t>Published paper on AST-native complexity inference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440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5CE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Analysis Engines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EC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97%+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59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34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59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External Libs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688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DCB6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5760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Deterministic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914400" y="-914400"/>
            <a:ext cx="5486400" cy="8686800"/>
          </a:xfrm>
          <a:prstGeom prst="round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377440"/>
            <a:ext cx="21031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3C5"/>
                </a:solidFill>
                <a:latin typeface="Calibri"/>
              </a:defRPr>
            </a:pPr>
            <a:r>
              <a:t>ASTra — AST-Native Code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CEC9"/>
                </a:solidFill>
                <a:latin typeface="Calibri"/>
              </a:defRPr>
            </a:pPr>
            <a:r>
              <a:t>10 Original Engines  •  Zero Borrowed Logic  •  5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840480"/>
            <a:ext cx="5760720" cy="2377440"/>
          </a:xfrm>
          <a:prstGeom prst="roundRect">
            <a:avLst/>
          </a:prstGeom>
          <a:solidFill>
            <a:srgbClr val="16192B"/>
          </a:solidFill>
          <a:ln w="1905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39776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5CE7"/>
                </a:solidFill>
                <a:latin typeface="Calibri"/>
              </a:defRPr>
            </a:pPr>
            <a: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434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3C5"/>
                </a:solidFill>
                <a:latin typeface="Calibri"/>
              </a:defRPr>
            </a:pPr>
            <a:r>
              <a:t>V. Rakshith Sridhar — 110622104027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6634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3C5"/>
                </a:solidFill>
                <a:latin typeface="Calibri"/>
              </a:defRPr>
            </a:pPr>
            <a:r>
              <a:rPr dirty="0"/>
              <a:t>N. Mohan — 11062210</a:t>
            </a:r>
            <a:r>
              <a:rPr lang="en-US" dirty="0"/>
              <a:t>4</a:t>
            </a:r>
            <a:r>
              <a:rPr dirty="0"/>
              <a:t>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9834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3C5"/>
                </a:solidFill>
                <a:latin typeface="Calibri"/>
              </a:defRPr>
            </a:pPr>
            <a:r>
              <a:rPr dirty="0"/>
              <a:t>M. </a:t>
            </a:r>
            <a:r>
              <a:t>Sudars</a:t>
            </a:r>
            <a:r>
              <a:rPr lang="en-US"/>
              <a:t>o</a:t>
            </a:r>
            <a:r>
              <a:t>n</a:t>
            </a:r>
            <a:r>
              <a:rPr dirty="0"/>
              <a:t> — 110622104032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49240"/>
            <a:ext cx="5760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CEC9"/>
                </a:solidFill>
                <a:latin typeface="Calibri"/>
              </a:defRPr>
            </a:pPr>
            <a:r>
              <a:rPr dirty="0"/>
              <a:t>Guide: </a:t>
            </a:r>
            <a:r>
              <a:rPr lang="en-US" dirty="0"/>
              <a:t>Mr. P. </a:t>
            </a:r>
            <a:r>
              <a:rPr lang="en-US" dirty="0" err="1"/>
              <a:t>Thanigesan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200400" y="56692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8DA0"/>
                </a:solidFill>
                <a:latin typeface="Calibri"/>
              </a:defRPr>
            </a:pPr>
            <a:r>
              <a:t>github.com/RakshithSridharV/ai-code-analyzer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94360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A8DA0"/>
                </a:solidFill>
                <a:latin typeface="Calibri"/>
              </a:defRPr>
            </a:pPr>
            <a:r>
              <a:t>INDIRA INSTITUTE OF ENGINEERING &amp; TECHNOLOGY  |  Dept. of CSE  |  2022–2026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2627</Words>
  <Application>Microsoft Office PowerPoint</Application>
  <PresentationFormat>Widescreen</PresentationFormat>
  <Paragraphs>431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Rakshith Sridhar</cp:lastModifiedBy>
  <cp:revision>5</cp:revision>
  <dcterms:created xsi:type="dcterms:W3CDTF">2013-01-27T09:14:16Z</dcterms:created>
  <dcterms:modified xsi:type="dcterms:W3CDTF">2026-05-15T01:55:49Z</dcterms:modified>
  <cp:category/>
</cp:coreProperties>
</file>